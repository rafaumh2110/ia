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3A6E0D-5025-4B6F-AF5C-939D631C61C7}" type="datetimeFigureOut">
              <a:t>18/09/2026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09253E-C3B7-4839-819B-EF8CD05F38C5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9869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60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61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62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233A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2011680" y="4572000"/>
            <a:ext cx="4754880" cy="4754880"/>
          </a:xfrm>
          <a:prstGeom prst="ellipse">
            <a:avLst/>
          </a:prstGeom>
          <a:solidFill>
            <a:srgbClr val="233A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kern="0" spc="30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TÉCNICA</a:t>
            </a:r>
            <a:endParaRPr lang="es-E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s-E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201168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800" i="1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fundamentos a las técnicas avanzadas de razonamiento y agentes</a:t>
            </a:r>
            <a:endParaRPr lang="es-E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66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150" dirty="0">
                <a:solidFill>
                  <a:srgbClr val="5B8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  ·   Técnicas de prompting   ·   Agentes y herramientas   ·   RAG   ·   Seguridad   ·   Python y C</a:t>
            </a:r>
            <a:endParaRPr lang="es-E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91672" cy="0"/>
          </a:xfrm>
          <a:prstGeom prst="line">
            <a:avLst/>
          </a:prstGeom>
          <a:noFill/>
          <a:ln w="12700">
            <a:solidFill>
              <a:srgbClr val="233A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548640" y="6108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Puerto</a:t>
            </a:r>
            <a:endParaRPr lang="es-E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100" dirty="0">
                <a:solidFill>
                  <a:srgbClr val="5B8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r.puerto@umh.es</a:t>
            </a:r>
            <a:endParaRPr lang="es-ES" sz="11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s-E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de la presentación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3C4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s-E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69164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s-E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3840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3C4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s-E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43840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Fundamentos: cómo "piensa" un modelo de lenguaje</a:t>
            </a:r>
            <a:endParaRPr lang="es-E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8516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3C4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s-E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318516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y principios de un buen prompt</a:t>
            </a:r>
            <a:endParaRPr lang="es-E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3192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3C4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s-E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93192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fundamentales de prompting</a:t>
            </a:r>
            <a:endParaRPr lang="es-E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7868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3C4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s-E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467868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 explícito: técnicas intermedias</a:t>
            </a:r>
            <a:endParaRPr lang="es-E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42544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3C4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s-E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542544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avanzadas de agentes y razonamiento</a:t>
            </a:r>
            <a:endParaRPr lang="es-E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69164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3C4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s-E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30568" y="169164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aplicado a la programación</a:t>
            </a:r>
            <a:endParaRPr lang="es-E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43840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3C4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s-E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30568" y="243840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Evaluación, iteración y control de calidad</a:t>
            </a:r>
            <a:endParaRPr lang="es-E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18516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3C4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s-E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30568" y="318516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Seguridad, riesgos y buenas prácticas</a:t>
            </a:r>
            <a:endParaRPr lang="es-E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93192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3C4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s-E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30568" y="393192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el ecosistema</a:t>
            </a:r>
            <a:endParaRPr lang="es-E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467868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3C4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s-E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30568" y="467868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prácticos completos</a:t>
            </a:r>
            <a:endParaRPr lang="es-E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542544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3C4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s-E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30568" y="542544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Checklist, glosario y referencias</a:t>
            </a:r>
            <a:endParaRPr lang="es-E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60</a:t>
            </a:r>
            <a:endParaRPr lang="es-ES" sz="900" dirty="0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in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prompt?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técnico y motivación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organiza esta guía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prompt y qué es el prompt engineering?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el texto de entrada que se envía a un modelo de lenguaje para obtener una respuesta.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ir desde una pregunta de una línea hasta un documento estructurado con instrucciones, contexto, ejemplos y restricciones de formato.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engineering: la disciplina que diseña, estructura y refina ese texto para maximizar calidad, fiabilidad y utilidad.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del código tradicional, un LLM no se programa: se condiciona su comportamiento mediante lenguaje natural.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es la interfaz más importante — y más ambigua — de todo el sistema.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Introducción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60</a:t>
            </a:r>
            <a:endParaRPr lang="es-E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los modelos de lenguaje a los LLM conversacionales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estadísticos de n-gramas → redes recurrentes (RNN, LSTM) → arquitectura Transformer (2017).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Transformer sustituye la recurrencia por autoatención: relaciona directamente cualquier posición de una secuencia con cualquier otra.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LLM actuales se entrenan sobre grandes corpus y se ajustan con SFT y RLHF para seguir instrucciones de forma útil, honesta e inocua.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ajuste para “seguir instrucciones” es lo que hace posible el prompt engineering tal y como lo conocemos hoy.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Introducción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60</a:t>
            </a:r>
            <a:endParaRPr lang="es-E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importa el prompt engineering?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3400" b="1" dirty="0">
                <a:solidFill>
                  <a:srgbClr val="E8C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 / token</a:t>
            </a:r>
            <a:endParaRPr lang="es-E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9748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1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y latencia por llamada a la API</a:t>
            </a:r>
            <a:endParaRPr lang="es-ES" sz="11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352544" y="178308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3400" b="1" dirty="0">
                <a:solidFill>
                  <a:srgbClr val="E8C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alucinaciones</a:t>
            </a:r>
            <a:endParaRPr lang="es-E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489704" y="269748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1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fiabilidad de las respuestas</a:t>
            </a:r>
            <a:endParaRPr lang="es-ES" sz="1150" dirty="0"/>
          </a:p>
        </p:txBody>
      </p:sp>
      <p:sp>
        <p:nvSpPr>
          <p:cNvPr id="12" name="Shape 10"/>
          <p:cNvSpPr/>
          <p:nvPr/>
        </p:nvSpPr>
        <p:spPr>
          <a:xfrm>
            <a:off x="8156448" y="169164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8156448" y="178308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3400" b="1" dirty="0">
                <a:solidFill>
                  <a:srgbClr val="E8C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defensa</a:t>
            </a:r>
            <a:endParaRPr lang="es-E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293608" y="269748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1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superficie de ataque frente a manipulación</a:t>
            </a:r>
            <a:endParaRPr lang="es-E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4904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modelo puede pasar de mediocre a sobresaliente en una tarea con solo reformular el prompt.</a:t>
            </a:r>
            <a:endParaRPr lang="es-ES" sz="150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Mantenibilidad: los prompts de producción se versionan, se prueban y se documentan, como el código.</a:t>
            </a:r>
            <a:endParaRPr lang="es-ES" sz="150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 limitada entre proveedores: entender los principios permite adaptar prompts con rapidez.</a:t>
            </a:r>
            <a:endParaRPr lang="es-E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Introducción</a:t>
            </a:r>
            <a:endParaRPr lang="es-E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60</a:t>
            </a:r>
            <a:endParaRPr lang="es-ES" sz="900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está organizada esta guía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Capítulos 2-3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Fundamentos técnicos y anatomía de un buen prompt.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Capítulos 4-5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Técnicas fundamentales e intermedias (zero-shot, few-shot, CoT, autoconsistencia).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Capítulo 6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Técnicas avanzadas: ReAct, ToT, herramientas, RAG, multiagente.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Capítulo 7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Aplicación a la programación, con ejemplos en Python y C.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Capítulos 8-11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Evaluación, seguridad, ecosistema y casos prácticos completos.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Introducción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60</a:t>
            </a:r>
            <a:endParaRPr lang="es-E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funda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Fundamentos: cómo "piensa" un modelo de lenguaje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del siguiente token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Tokenización y ventana de contexto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de muestreo y roles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tarea subyacente: predicción del siguiente token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decoder-only resuelve una única tarea: estimar la probabilidad del siguiente token dado el contexto.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generación es autorregresiva: cada token generado se añade a la entrada y el proceso se repite.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autoatención multi-cabeza permite que cada token pondere la relevancia de los demás tokens del contexto.</a:t>
            </a:r>
            <a:endParaRPr lang="es-ES" sz="1400" dirty="0"/>
          </a:p>
        </p:txBody>
      </p:sp>
      <p:pic>
        <p:nvPicPr>
          <p:cNvPr id="7" name="Image 0" descr="/home/claude/pptx_build/images/fig01_arquite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820" y="1600200"/>
            <a:ext cx="4052455" cy="41605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050" i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simplificada de un LLM autorregresivo.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 y tokenización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no procesan caracteres ni palabras completas, sino tokens (BPE, SentencePiece).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coste de las API se factura por token de entrada y salida, no por carácter.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límite de contexto se mide en tokens: distintos modelos pueden fragmentar el mismo texto de forma distinta.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de manipulación letra a letra son intrínsecamente difíciles para un LLM.</a:t>
            </a:r>
            <a:endParaRPr lang="es-ES" sz="1400" dirty="0"/>
          </a:p>
        </p:txBody>
      </p:sp>
      <p:pic>
        <p:nvPicPr>
          <p:cNvPr id="7" name="Image 0" descr="/home/claude/pptx_build/images/fig02_tokeniz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720051"/>
            <a:ext cx="5608015" cy="192081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050" i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texto se fragmenta en tokens antes de procesarse.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ventana de contexto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máximo de tokens que el modelo puede considerar entre entrada y salida.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de sistema, historial, contexto recuperado y el prompt actual comparten el mismo presupuesto.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superarse el límite: truncar, resumir o recuperar solo los fragmentos más relevantes (RAG).</a:t>
            </a:r>
            <a:endParaRPr lang="es-ES" sz="1400" dirty="0"/>
          </a:p>
        </p:txBody>
      </p:sp>
      <p:pic>
        <p:nvPicPr>
          <p:cNvPr id="7" name="Image 0" descr="/home/claude/pptx_build/images/fig03_ventana_contex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922256"/>
            <a:ext cx="5608015" cy="15164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050" i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típica de la ventana de contexto.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Parámetros de generación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temperature</a:t>
            </a:r>
            <a:r>
              <a:rPr lang="es-ES" altLang="es-ES" sz="14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controla la aleatoriedad; valores bajos = respuestas deterministas.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top_p / top_k</a:t>
            </a:r>
            <a:r>
              <a:rPr lang="es-ES" altLang="es-ES" sz="14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restringen el muestreo a los tokens más probables.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max_tokens y stop</a:t>
            </a:r>
            <a:r>
              <a:rPr lang="es-ES" altLang="es-ES" sz="14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limitan la longitud y delimitan el final de la salida.</a:t>
            </a:r>
            <a:endParaRPr lang="es-ES" sz="1400" dirty="0"/>
          </a:p>
        </p:txBody>
      </p:sp>
      <p:pic>
        <p:nvPicPr>
          <p:cNvPr id="7" name="Image 0" descr="/home/claude/pptx_build/images/fig04_tempera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767045"/>
            <a:ext cx="5608015" cy="182683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050" i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de temperature sobre la distribución de probabilidad.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Parámetros habituales de las API de generación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9344"/>
          <a:ext cx="11091672" cy="3116580"/>
        </p:xfrm>
        <a:graphic>
          <a:graphicData uri="http://schemas.openxmlformats.org/drawingml/2006/table">
            <a:tbl>
              <a:tblPr/>
              <a:tblGrid>
                <a:gridCol w="2440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0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1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 típico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usarlo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 – 2.0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0.0–0.3 tareas factuales/código; 0.7–1.0 redacción creativa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top_p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 – 1.0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Alternativa a temperature; no ajustar ambos de forma agresiva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top_k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100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fino adicional, poco usado en solitario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max_tokens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según modelo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Evitar truncamientos o gasto innecesario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de cadenas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Delimitar el final de JSON, listas o bloques de código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157216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BEAEA"/>
          </a:solidFill>
          <a:ln w="12700">
            <a:solidFill>
              <a:srgbClr val="B3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731520" y="515721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1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ADVERTENCIA:  </a:t>
            </a:r>
            <a:r>
              <a:rPr lang="es-ES" altLang="es-ES" sz="11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 no garantiza una salida idéntica entre proveedores: revisa la documentación sobre seed y determinismo.</a:t>
            </a:r>
            <a:endParaRPr lang="es-E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60</a:t>
            </a:r>
            <a:endParaRPr lang="es-ES" sz="90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de la conversación: system, user y assistant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1091671" cy="2712720"/>
        </p:xfrm>
        <a:graphic>
          <a:graphicData uri="http://schemas.openxmlformats.org/drawingml/2006/table">
            <a:tbl>
              <a:tblPr/>
              <a:tblGrid>
                <a:gridCol w="3105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2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2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2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s-E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s-E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s-E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(Gemini)</a:t>
                      </a:r>
                      <a:endParaRPr lang="es-E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Instrucción de sistema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system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 system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system_instruction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 del usuario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user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user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user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 del modelo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assistant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assistant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model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de herramienta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tool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tool_result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function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60</a:t>
            </a:r>
            <a:endParaRPr lang="es-ES" sz="900" dirty="0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anatom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Anatomía y principios de un buen prompt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 un prompt eficaz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 y especificidad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salida y antipatrones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de un prompt eficaz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350" i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Rol, contexto, tarea, formato de salida, ejemplos y restricciones — no siempre todos, pero sí explícitos.</a:t>
            </a:r>
            <a:endParaRPr lang="es-ES" sz="1350" dirty="0"/>
          </a:p>
        </p:txBody>
      </p:sp>
      <p:pic>
        <p:nvPicPr>
          <p:cNvPr id="7" name="Image 0" descr="/home/claude/pptx_build/images/fig05_anatomia_prom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117" y="2057400"/>
            <a:ext cx="2877461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Anatomía de un buen prompt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60</a:t>
            </a:r>
            <a:endParaRPr lang="es-ES" sz="9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Claridad, especificidad y “carga cognitiva cero”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31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ambiguo</a:t>
            </a:r>
            <a:endParaRPr lang="es-E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“Mejora este texto”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“Escríbeme una función en Python”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“Resume este informe”</a:t>
            </a:r>
            <a:endParaRPr lang="es-E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446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específico</a:t>
            </a:r>
            <a:endParaRPr lang="es-E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Reescribe este párrafo para un informe técnico: mitad de longitud, sin repeticiones, tono formal en es-ES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Python 3.11 con type hints y docstring Google que calcule la mediana; ValueError si la lista está vacía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en 150 palabras, en 3 párrafos: contexto, hallazgos, recomendaciones</a:t>
            </a:r>
            <a:endParaRPr lang="es-E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Anatomía de un buen prompt</a:t>
            </a:r>
            <a:endParaRPr lang="es-E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60</a:t>
            </a:r>
            <a:endParaRPr lang="es-ES" sz="90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papel del formato de salida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Especificar el formato de salida disciplina el razonamiento del modelo y facilita el procesado automático.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36392"/>
            <a:ext cx="11064240" cy="2779776"/>
          </a:xfrm>
          <a:prstGeom prst="roundRect">
            <a:avLst>
              <a:gd name="adj" fmla="val 2632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7240" y="3264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050" b="1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s-E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575304"/>
            <a:ext cx="1056132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Eres un extractor de datos. Analiza la reseña delimitada por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&lt;reseña&gt;&lt;/reseña&gt; y devuelve EXCLUSIVAMENTE un JSON: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"sentimiento": "positivo" | "neutro" | "negativo",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"puntuacion_estimada": number,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"aspectos_mencionados": string[]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s-E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Anatomía de un buen prompt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60</a:t>
            </a:r>
            <a:endParaRPr lang="es-ES" sz="900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Antipatrones frecuentes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18004"/>
          <a:ext cx="11091672" cy="914400"/>
        </p:xfrm>
        <a:graphic>
          <a:graphicData uri="http://schemas.openxmlformats.org/drawingml/2006/table">
            <a:tbl>
              <a:tblPr/>
              <a:tblGrid>
                <a:gridCol w="4436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5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Antipatrón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Alternativa recomendada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Instrucciones contradictorias (“sé breve” + “explica todo”)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Priorizar explícitamente qué restricción prevalece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Negaciones como única guía (“no seas informal”)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Indicar positivamente el comportamiento deseado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 monolíticos para tareas multietapa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Descomponer en varios prompts encadenados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Confiar en la memoria del modelo para datos actuales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Proveer el contexto explícitamente (RAG)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indicar qué hacer ante la incertidumbre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“Si no dispones de información suficiente, indícalo”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Anatomía de un buen prompt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60</a:t>
            </a:r>
            <a:endParaRPr lang="es-ES" sz="900" dirty="0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fundament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fundamentales de prompting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y few-shot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persona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parametrizadas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prompting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la tarea sin ejemplos, confiando en el conocimiento adquirido durante el entrenamiento.</a:t>
            </a:r>
            <a:endParaRPr lang="es-ES" sz="135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bien en tareas comunes y bien delimitadas.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602736"/>
            <a:ext cx="11064240" cy="1847088"/>
          </a:xfrm>
          <a:prstGeom prst="roundRect">
            <a:avLst>
              <a:gd name="adj" fmla="val 3960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724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050" b="1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s-E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4041648"/>
            <a:ext cx="10561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Clasifica el siguiente comentario en: "reclamación",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"consulta" o "elogio". Responde solo con la categoría.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Comentario: "Llevo tres días esperando respuesta."</a:t>
            </a:r>
            <a:endParaRPr lang="es-E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Técnicas fundamentales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60</a:t>
            </a:r>
            <a:endParaRPr lang="es-ES" sz="900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One-shot y few-shot prompting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ejemplos resueltos (entrada → salida) antes del caso real a resolver.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eficaz para fijar un formato de salida exacto o un estilo particular.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Claves:</a:t>
            </a:r>
            <a:r>
              <a:rPr lang="es-ES" altLang="es-ES" sz="14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representatividad, consistencia de formato y no abusar del número de ejemplos.</a:t>
            </a:r>
            <a:endParaRPr lang="es-ES" sz="1400" dirty="0"/>
          </a:p>
        </p:txBody>
      </p:sp>
      <p:pic>
        <p:nvPicPr>
          <p:cNvPr id="7" name="Image 0" descr="/home/claude/pptx_build/images/fig06_zero_few_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495956"/>
            <a:ext cx="5608015" cy="236900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050" i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ejemplos, mayor precisión de formato — hasta cierto punto.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Técnicas fundamentales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basado en roles y persona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un rol condiciona vocabulario, nivel de detalle y perspectiva de forma medible.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602736"/>
            <a:ext cx="11064240" cy="1847088"/>
          </a:xfrm>
          <a:prstGeom prst="roundRect">
            <a:avLst>
              <a:gd name="adj" fmla="val 3960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724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050" b="1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s-E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4041648"/>
            <a:ext cx="10561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Eres un ingeniero de sistemas con 15 años de experiencia en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y Python. Respondes con precisión técnica y adviertes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riesgos de seguridad cuando proceda.</a:t>
            </a:r>
            <a:endParaRPr lang="es-E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Técnicas fundamentales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60</a:t>
            </a:r>
            <a:endParaRPr lang="es-ES" sz="900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Plantillas y prompts parametrizados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producción, los prompts se generan a partir de plantillas versionadas con variables.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980944"/>
            <a:ext cx="11064240" cy="3090672"/>
          </a:xfrm>
          <a:prstGeom prst="roundRect">
            <a:avLst>
              <a:gd name="adj" fmla="val 2367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050" b="1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s-E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419856"/>
            <a:ext cx="1056132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PLANTILLA = Template("""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 el siguiente documento en $max_palabras palabras,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tono $tono e idioma $idioma.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DOCUMENTO: """$documento"""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""")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PLANTILLA.substitute(max_palabras=120, tono="cercano",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idioma="es-ES", documento=texto)</a:t>
            </a:r>
            <a:endParaRPr lang="es-E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Técnicas fundamentales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60</a:t>
            </a:r>
            <a:endParaRPr lang="es-ES" sz="900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razonami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Razonamiento explícito: técnicas intermedias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 y Least-to-Most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Chain-of-Thought (CoT): cadena de pensamiento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350" i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Exponer el razonamiento paso a paso reduce errores en tareas aritméticas, lógicas y de varios pasos.</a:t>
            </a:r>
            <a:endParaRPr lang="es-ES" sz="1350" dirty="0"/>
          </a:p>
        </p:txBody>
      </p:sp>
      <p:pic>
        <p:nvPicPr>
          <p:cNvPr id="7" name="Image 0" descr="/home/claude/pptx_build/images/fig07_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589" y="2057400"/>
            <a:ext cx="7958518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60</a:t>
            </a:r>
            <a:endParaRPr lang="es-ES" sz="9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CoT: “pensemos paso a paso”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con añadir esta frase, sin ejemplos, para mejorar sustancialmente el razonamiento del modelo.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447288"/>
            <a:ext cx="11064240" cy="2157984"/>
          </a:xfrm>
          <a:prstGeom prst="roundRect">
            <a:avLst>
              <a:gd name="adj" fmla="val 3390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7240" y="3575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050" b="1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s-E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886200"/>
            <a:ext cx="1056132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Pregunta: en una tienda hay 3 estanterías con 24 libros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una. Se venden 17 y se reponen 2 cajas de 6 libros.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¿Cuántos libros hay ahora?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Pensemos paso a paso.</a:t>
            </a:r>
            <a:endParaRPr lang="es-E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60</a:t>
            </a:r>
            <a:endParaRPr lang="es-ES" sz="900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Self-Consistency: autoconsistencia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generan varios razonamientos independientes (temperature &gt; 0) para la misma pregunta.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elige la respuesta más frecuente entre todos los caminos.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fiabilidad a costa de un coste computacional varias veces mayor.</a:t>
            </a:r>
            <a:endParaRPr lang="es-ES" sz="1400" dirty="0"/>
          </a:p>
        </p:txBody>
      </p:sp>
      <p:pic>
        <p:nvPicPr>
          <p:cNvPr id="7" name="Image 0" descr="/home/claude/pptx_build/images/fig08_self_consis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367411"/>
            <a:ext cx="5608015" cy="262609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050" i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caminos de razonamiento, votación por mayoría.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Chaining: encadenamiento de prompts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350" i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una tarea compleja en subtareas simples, verificables y fáciles de depurar por separado.</a:t>
            </a:r>
            <a:endParaRPr lang="es-ES" sz="1350" dirty="0"/>
          </a:p>
        </p:txBody>
      </p:sp>
      <p:pic>
        <p:nvPicPr>
          <p:cNvPr id="7" name="Image 0" descr="/home/claude/pptx_build/images/fig09_prompt_ch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30686"/>
            <a:ext cx="11094415" cy="40596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60</a:t>
            </a:r>
            <a:endParaRPr lang="es-ES" sz="9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Least-to-Most prompting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especializada del encadenamiento para problemas descomponibles en subproblemas de dificultad creciente.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el modelo descompone el problema en una lista ordenada de subproblemas.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se resuelven uno a uno, usando las soluciones previas como contexto adicional.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Especialmente eficaz en generalización composicional: matemáticas por niveles, SQL con subconsultas, planificación con dependencias.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60</a:t>
            </a:r>
            <a:endParaRPr lang="es-E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avanzad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avanzadas de agentes y razonamiento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y Tree of Thoughts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y RAG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Arquitecturas multiagente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ReAct: razonar y actuar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350" i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Entrelaza pensamiento, acción sobre herramientas externas y observación del resultado.</a:t>
            </a:r>
            <a:endParaRPr lang="es-ES" sz="1350" dirty="0"/>
          </a:p>
        </p:txBody>
      </p:sp>
      <p:pic>
        <p:nvPicPr>
          <p:cNvPr id="7" name="Image 0" descr="/home/claude/pptx_build/images/fig10_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995" y="2057400"/>
            <a:ext cx="3769705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60</a:t>
            </a:r>
            <a:endParaRPr lang="es-ES" sz="9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 of Thoughts (ToT): árbol de pensamientos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350" i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varias ramas de razonamiento en paralelo, evaluando y podando las menos prometedoras.</a:t>
            </a:r>
            <a:endParaRPr lang="es-ES" sz="1350" dirty="0"/>
          </a:p>
        </p:txBody>
      </p:sp>
      <p:pic>
        <p:nvPicPr>
          <p:cNvPr id="7" name="Image 0" descr="/home/claude/pptx_build/images/fig11_t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018" y="2057400"/>
            <a:ext cx="5041659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60</a:t>
            </a:r>
            <a:endParaRPr lang="es-ES" sz="9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calling y uso de herramientas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genera una llamada estructurada a una función predefinida, con argumentos en JSON.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orquestador ejecuta realmente la función y devuelve el resultado al modelo.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descripciones de las herramientas deben documentarse con el mismo rigor que una API pública.</a:t>
            </a:r>
            <a:endParaRPr lang="es-ES" sz="1400" dirty="0"/>
          </a:p>
        </p:txBody>
      </p:sp>
      <p:pic>
        <p:nvPicPr>
          <p:cNvPr id="7" name="Image 0" descr="/home/claude/pptx_build/images/fig13_function_cal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509" y="1600200"/>
            <a:ext cx="4787077" cy="41605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050" i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decide, el sistema ejecuta, el modelo redacta.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RAG: generación aumentada por recuperación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350" i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se enriquece con información recuperada de una base de conocimiento propia.</a:t>
            </a:r>
            <a:endParaRPr lang="es-ES" sz="1350" dirty="0"/>
          </a:p>
        </p:txBody>
      </p:sp>
      <p:pic>
        <p:nvPicPr>
          <p:cNvPr id="7" name="Image 0" descr="/home/claude/pptx_build/images/fig12_r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891" y="2057400"/>
            <a:ext cx="7829913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60</a:t>
            </a:r>
            <a:endParaRPr lang="es-ES" sz="9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Arquitecturas multiagente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350" i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orquestador delega subtareas en agentes especializados con sus propias herramientas.</a:t>
            </a:r>
            <a:endParaRPr lang="es-ES" sz="1350" dirty="0"/>
          </a:p>
        </p:txBody>
      </p:sp>
      <p:pic>
        <p:nvPicPr>
          <p:cNvPr id="7" name="Image 0" descr="/home/claude/pptx_build/images/fig14_multiag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245" y="2057400"/>
            <a:ext cx="7287205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60</a:t>
            </a:r>
            <a:endParaRPr lang="es-ES" sz="9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Meta-prompting y optimización automática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un LLM para generar, criticar o mejorar otros prompts, en lugar de resolver directamente la tarea.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dado un prompt y casos donde falló, pedir al modelo una versión mejorada.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como DSPy tratan el prompt como un parámetro a optimizar frente a datos y una métrica objetivo.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60</a:t>
            </a:r>
            <a:endParaRPr lang="es-E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program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7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aplicado a la programación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Generación, depuración y refactorización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tests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desde Python y C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– 7.4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Generación, depuración, refactorización y tests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Generación de código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especifica lenguaje/versión, bibliotecas permitidas y manejo de errores esperado.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Depuración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aporta el error completo, el código relevante y qué cambió recientemente.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Refactorización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indica el objetivo (legibilidad, seguridad, rendimiento) y limita el alcance del cambio.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Tests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pide explícitamente cobertura de casos límite, no solo el caso feliz.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Programación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60</a:t>
            </a:r>
            <a:endParaRPr lang="es-E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desde Python: cliente de la API de mensajes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363724"/>
            <a:ext cx="11064240" cy="3090672"/>
          </a:xfrm>
          <a:prstGeom prst="roundRect">
            <a:avLst>
              <a:gd name="adj" fmla="val 2367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77240" y="24917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050" b="1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s-E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02636"/>
            <a:ext cx="1056132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llamar_llm(mensajes, modelo="modelo-chat", temperature=0.2):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httpx.post(API_URL, headers=cabeceras, json={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"model": modelo, "messages": mensajes,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"temperature": temperature,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 timeout=30.0)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resp.status_code == 200: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resp.json()["choices"][0]["message"]["content"]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ErrorLLM(f"HTTP {resp.status_code}")</a:t>
            </a:r>
            <a:endParaRPr lang="es-E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Programación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desde C: libcurl + cJSON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patrón — payload JSON, petición HTTP, análisis de la respuesta — es extensible a function calling desde C.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64240" cy="3566160"/>
          </a:xfrm>
          <a:prstGeom prst="roundRect">
            <a:avLst>
              <a:gd name="adj" fmla="val 2051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7240" y="28712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050" b="1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s-E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82112"/>
            <a:ext cx="10561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*llamar_llm(const char *api_key, const char *system_prompt,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const char *user_prompt) {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 *curl = curl_easy_init();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*payload = construir_payload(system_prompt, user_prompt);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curl_easy_setopt(curl, CURLOPT_URL, API_URL);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curl_easy_setopt(curl, CURLOPT_POSTFIELDS, payload);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curl_easy_setopt(curl, CURLOPT_WRITEFUNCTION, escribir_respuesta);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CURLcode res = curl_easy_perform(curl);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... analizar JSON de respuesta con cJSON ... */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s-E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Programación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60</a:t>
            </a:r>
            <a:endParaRPr lang="es-ES" sz="900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evalu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8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Evaluación, iteración y control de calidad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evaluar de forma sistemática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por tipo de tarea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automatizado y regresión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– 8.2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según el tipo de tarea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18004"/>
          <a:ext cx="11091672" cy="914400"/>
        </p:xfrm>
        <a:graphic>
          <a:graphicData uri="http://schemas.openxmlformats.org/drawingml/2006/table">
            <a:tbl>
              <a:tblPr/>
              <a:tblGrid>
                <a:gridCol w="4658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3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tarea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 habitual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Exactitud, precisión, exhaustividad, F1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Extracción estructurada (JSON)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 validez de esquema, exactitud campo a campo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Resumen / redacción libre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Evaluación humana, o “LLM como juez” con rúbrica explícita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Generación de código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tests que pasan, análisis estático, ejecución real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Agentes con herramientas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 éxito de la tarea completa, nº de pasos, coste total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Evaluación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60</a:t>
            </a:r>
            <a:endParaRPr lang="es-ES" sz="900" dirty="0"/>
          </a:p>
        </p:txBody>
      </p:sp>
      <p:sp>
        <p:nvSpPr>
          <p:cNvPr id="45" name="Rectangle 4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iteración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580894" cy="3566160"/>
          </a:xfrm>
          <a:prstGeom prst="roundRect">
            <a:avLst>
              <a:gd name="adj" fmla="val 2480"/>
            </a:avLst>
          </a:prstGeom>
          <a:solidFill>
            <a:srgbClr val="EEF2F7"/>
          </a:solidFill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546479" y="1600200"/>
            <a:ext cx="585216" cy="5852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546479" y="1600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s-E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86000"/>
            <a:ext cx="22517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</a:t>
            </a:r>
            <a:endParaRPr lang="es-E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063240"/>
            <a:ext cx="22517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1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evaluación representativo y métrica del prompt actual.</a:t>
            </a:r>
            <a:endParaRPr lang="es-E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129534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8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ES" sz="1800" dirty="0"/>
          </a:p>
        </p:txBody>
      </p:sp>
      <p:sp>
        <p:nvSpPr>
          <p:cNvPr id="12" name="Shape 10"/>
          <p:cNvSpPr/>
          <p:nvPr/>
        </p:nvSpPr>
        <p:spPr>
          <a:xfrm>
            <a:off x="3385566" y="1920240"/>
            <a:ext cx="2580894" cy="3566160"/>
          </a:xfrm>
          <a:prstGeom prst="roundRect">
            <a:avLst>
              <a:gd name="adj" fmla="val 2480"/>
            </a:avLst>
          </a:prstGeom>
          <a:solidFill>
            <a:srgbClr val="EEF2F7"/>
          </a:solidFill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383405" y="1600200"/>
            <a:ext cx="585216" cy="5852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383405" y="1600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s-E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550158" y="2286000"/>
            <a:ext cx="22517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fallos</a:t>
            </a:r>
            <a:endParaRPr lang="es-E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550158" y="3063240"/>
            <a:ext cx="22517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1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¿Fallan entradas de cierto tipo? ¿Formato o contenido?</a:t>
            </a:r>
            <a:endParaRPr lang="es-E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966460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8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ES" sz="1800" dirty="0"/>
          </a:p>
        </p:txBody>
      </p:sp>
      <p:sp>
        <p:nvSpPr>
          <p:cNvPr id="18" name="Shape 16"/>
          <p:cNvSpPr/>
          <p:nvPr/>
        </p:nvSpPr>
        <p:spPr>
          <a:xfrm>
            <a:off x="6222492" y="1920240"/>
            <a:ext cx="2580894" cy="3566160"/>
          </a:xfrm>
          <a:prstGeom prst="roundRect">
            <a:avLst>
              <a:gd name="adj" fmla="val 2480"/>
            </a:avLst>
          </a:prstGeom>
          <a:solidFill>
            <a:srgbClr val="EEF2F7"/>
          </a:solidFill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220331" y="1600200"/>
            <a:ext cx="585216" cy="5852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220331" y="1600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s-E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387084" y="2286000"/>
            <a:ext cx="22517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</a:t>
            </a:r>
            <a:endParaRPr lang="es-E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387084" y="3063240"/>
            <a:ext cx="22517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1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un solo aspecto del prompt a la vez.</a:t>
            </a:r>
            <a:endParaRPr lang="es-E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803386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8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ES" sz="1800" dirty="0"/>
          </a:p>
        </p:txBody>
      </p:sp>
      <p:sp>
        <p:nvSpPr>
          <p:cNvPr id="24" name="Shape 22"/>
          <p:cNvSpPr/>
          <p:nvPr/>
        </p:nvSpPr>
        <p:spPr>
          <a:xfrm>
            <a:off x="9059418" y="1920240"/>
            <a:ext cx="2580894" cy="3566160"/>
          </a:xfrm>
          <a:prstGeom prst="roundRect">
            <a:avLst>
              <a:gd name="adj" fmla="val 2480"/>
            </a:avLst>
          </a:prstGeom>
          <a:solidFill>
            <a:srgbClr val="EEF2F7"/>
          </a:solidFill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10057257" y="1600200"/>
            <a:ext cx="585216" cy="5852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10057257" y="1600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s-E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224010" y="2286000"/>
            <a:ext cx="22517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Reevaluar</a:t>
            </a:r>
            <a:endParaRPr lang="es-E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224010" y="3063240"/>
            <a:ext cx="22517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1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contra la línea base; vigilar regresiones.</a:t>
            </a:r>
            <a:endParaRPr lang="es-E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Evaluación</a:t>
            </a:r>
            <a:endParaRPr lang="es-E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60</a:t>
            </a:r>
            <a:endParaRPr lang="es-ES" sz="900" dirty="0"/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automatizado de prompts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985516"/>
            <a:ext cx="11064240" cy="1847088"/>
          </a:xfrm>
          <a:prstGeom prst="roundRect">
            <a:avLst>
              <a:gd name="adj" fmla="val 3960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77240" y="31135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050" b="1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s-E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424428"/>
            <a:ext cx="10561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@pytest.mark.parametrize("caso", CASOS_PRUEBA)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test_clasificacion_comentarios(caso, cliente_llm):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categoria = clasificar_comentario(caso["entrada"], cliente_llm)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3C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categoria == caso["categoria_esperada"]</a:t>
            </a:r>
            <a:endParaRPr lang="es-E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Evaluación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segur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Seguridad, riesgos y buenas prácticas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y jailbreaking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Alucinaciones y sesgos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de seguridad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injection: inyección de prompts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350" i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maliciosas ocultas en contenido externo que el modelo procesa como datos.</a:t>
            </a:r>
            <a:endParaRPr lang="es-ES" sz="1350" dirty="0"/>
          </a:p>
        </p:txBody>
      </p:sp>
      <p:pic>
        <p:nvPicPr>
          <p:cNvPr id="7" name="Image 0" descr="/home/claude/pptx_build/images/fig15_prompt_in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025" y="2057400"/>
            <a:ext cx="6367645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Seguridad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60</a:t>
            </a:r>
            <a:endParaRPr lang="es-ES" sz="9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 – 9.4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Jailbreaking, fuga de información, alucinaciones y sesgos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Jailbreaking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técnicas para eludir salvaguardas; mitigar con clasificadores y red teaming periódico.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Fuga del system prompt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 incrustar secretos ni información sensible en las instrucciones de sistema.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Alucinaciones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fundamentar en contexto verificable (RAG); permitir reconocer la incertidumbre.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Sesgos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auditar sistemáticamente frente a distintos subgrupos, no solo pedir “sé imparcial”.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Seguridad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60</a:t>
            </a:r>
            <a:endParaRPr lang="es-E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Buenas prácticas de seguridad: resumen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18004"/>
          <a:ext cx="11091672" cy="914400"/>
        </p:xfrm>
        <a:graphic>
          <a:graphicData uri="http://schemas.openxmlformats.org/drawingml/2006/table">
            <a:tbl>
              <a:tblPr/>
              <a:tblGrid>
                <a:gridCol w="288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7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Ámbito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Buena práctica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Arquitectura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Principio de privilegio mínimo: solo las herramientas y datos necesarios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de entrada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Tratar todo contenido externo como no confiable y delimitarlo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Acciones sensibles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Confirmación humana o validación antes de acciones irreversibles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Secretos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Nunca incrustar credenciales en el prompt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Evaluación continua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Incluir casos de inyección y jailbreaking en las pruebas de regresión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Seguridad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60</a:t>
            </a:r>
            <a:endParaRPr lang="es-ES" sz="900" dirty="0"/>
          </a:p>
        </p:txBody>
      </p:sp>
      <p:sp>
        <p:nvSpPr>
          <p:cNvPr id="51" name="Rectangle 5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herramient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10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y el ecosistema de prompt engineering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SDKs y API de los proveedores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de orquestación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prompts en producción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 de frameworks de orquestación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18004"/>
          <a:ext cx="11091672" cy="914400"/>
        </p:xfrm>
        <a:graphic>
          <a:graphicData uri="http://schemas.openxmlformats.org/drawingml/2006/table">
            <a:tbl>
              <a:tblPr/>
              <a:tblGrid>
                <a:gridCol w="288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7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Enfoque principal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Encadenamiento de prompts, modelos, herramientas y memoria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LlamaIndex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Indexación y recuperación de datos para RAG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DSPy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 como parámetros optimizables mediante programas y métricas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Kernel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Orquestación de “plugins”, orientado a integración empresarial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 nativos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directo a la API; máximo control en producción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Herramientas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60</a:t>
            </a:r>
            <a:endParaRPr lang="es-ES" sz="900" dirty="0"/>
          </a:p>
        </p:txBody>
      </p:sp>
      <p:sp>
        <p:nvSpPr>
          <p:cNvPr id="53" name="Rectangle 5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prompts en producción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Control de versiones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los prompts se versionan junto con el código.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Separación plantilla / configuración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texto, parámetros y modelo ajustables por separado.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Registro de metadatos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versión del prompt, modelo, parámetros y respuesta, para trazabilidad.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Despliegue gradual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feature flags o A/B testing antes de sustituir un prompt en producción.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Herramientas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60</a:t>
            </a:r>
            <a:endParaRPr lang="es-E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cas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11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prácticos completos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atención al cliente con RAG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estructurada de facturas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análisis de código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1: asistente de atención al cliente con RAG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31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s-E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preguntas sobre devoluciones, garantía y envíos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Fundamentar cada respuesta en la documentación oficial vigente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Citar la política exacta aplicada</a:t>
            </a:r>
            <a:endParaRPr lang="es-E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446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solución</a:t>
            </a:r>
            <a:endParaRPr lang="es-E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segmentada por política e indexada con embeddings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combina instrucciones + contexto recuperado + pregunta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posterior de que cada cita exista realmente en el contexto</a:t>
            </a:r>
            <a:endParaRPr lang="es-E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Casos prácticos</a:t>
            </a:r>
            <a:endParaRPr lang="es-E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60</a:t>
            </a:r>
            <a:endParaRPr lang="es-ES" sz="90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2: extracción estructurada de facturas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31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s-E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facturas PDF heterogéneas en registros JSON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Alimentar un sistema contable minimizando intervención manual</a:t>
            </a:r>
            <a:endParaRPr lang="es-E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446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solución</a:t>
            </a:r>
            <a:endParaRPr lang="es-E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few-shot con ejemplos de estructuras distintas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0.0 para maximizar consistencia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esquema; registros inválidos van a revisión manual</a:t>
            </a:r>
            <a:endParaRPr lang="es-E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Casos prácticos</a:t>
            </a:r>
            <a:endParaRPr lang="es-E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60</a:t>
            </a:r>
            <a:endParaRPr lang="es-ES" sz="90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3: agente de análisis de código con herramientas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31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s-E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preguntas sobre un repositorio y proponer mejoras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Apoyarse en herramientas reales, no solo en el código pegado en el prompt</a:t>
            </a:r>
            <a:endParaRPr lang="es-E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446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solución</a:t>
            </a:r>
            <a:endParaRPr lang="es-E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ReAct con buscar_en_repositorio, leer_archivo, ejecutar_tests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máximo de iteraciones para controlar coste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de escritura excluidas o sujetas a confirmación humana</a:t>
            </a:r>
            <a:endParaRPr lang="es-E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Casos prácticos</a:t>
            </a:r>
            <a:endParaRPr lang="es-E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60</a:t>
            </a:r>
            <a:endParaRPr lang="es-ES" sz="90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check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12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Checklist, glosario y referencias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comprobación por niveles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 de términos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y lecturas recomendadas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comprobación por nivel de madurez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12848"/>
          <a:ext cx="11091672" cy="914400"/>
        </p:xfrm>
        <a:graphic>
          <a:graphicData uri="http://schemas.openxmlformats.org/drawingml/2006/table">
            <a:tbl>
              <a:tblPr/>
              <a:tblGrid>
                <a:gridCol w="199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5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s-E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Comprobación</a:t>
                      </a:r>
                      <a:endParaRPr lang="es-E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¿Rol, tarea, contexto y formato de salida especificados con claridad?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¿Probado en zero-shot y few-shot, incluyendo casos límite?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Intermedio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¿Se piden explícitamente los pasos de razonamiento antes de la respuesta final?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Avanzado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¿Las respuestas se fundamentan en contexto verificable (RAG) cuando procede?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¿Todo contenido externo se trata como no confiable?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¿Los prompts están versionados y su despliegue es gradual y auditable?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Checklist, glosario y referencias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60</a:t>
            </a:r>
            <a:endParaRPr lang="es-ES" sz="900" dirty="0"/>
          </a:p>
        </p:txBody>
      </p:sp>
      <p:sp>
        <p:nvSpPr>
          <p:cNvPr id="60" name="Rectangle 5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Términos clave (1/2)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12598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31520" y="21259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s-E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11780"/>
            <a:ext cx="5349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modelo de lenguaje de gran escala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Token: unidad mínima de texto procesada por el modelo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contexto: máximo de tokens considerados a la vez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parámetro que controla la aleatoriedad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Embedding: representación vectorial del significado de un texto</a:t>
            </a:r>
            <a:endParaRPr lang="es-E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12598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446520" y="21259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</a:t>
            </a:r>
            <a:endParaRPr lang="es-E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811780"/>
            <a:ext cx="5349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Chain-of-Thought: razonamiento explícito paso a paso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Self-Consistency: votación entre varios razonamientos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chaining: salida de un prompt como entrada del siguiente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razonamiento intercalado con acciones sobre herramientas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generación fundamentada en información recuperada</a:t>
            </a:r>
            <a:endParaRPr lang="es-E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Checklist, glosario y referencias</a:t>
            </a:r>
            <a:endParaRPr lang="es-E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60</a:t>
            </a:r>
            <a:endParaRPr lang="es-ES" sz="90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Términos clave (2/2)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12598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31520" y="21259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calidad</a:t>
            </a:r>
            <a:endParaRPr lang="es-E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11780"/>
            <a:ext cx="5349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injection: instrucciones maliciosas en datos externos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Jailbreaking: elusión de las salvaguardas de un modelo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Alucinación: afirmación plausible pero falsa o no fundamentada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prompt: instrucciones de nivel superior del asistente</a:t>
            </a:r>
            <a:endParaRPr lang="es-E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12598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446520" y="21259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</a:t>
            </a:r>
            <a:endParaRPr lang="es-E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811780"/>
            <a:ext cx="5349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Fine-tuning: ajuste adicional de un modelo preentrenado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ajuste mediante retroalimentación humana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calling: llamada estructurada a una función externa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Thoughts: exploración de varias ramas de razonamiento</a:t>
            </a:r>
            <a:endParaRPr lang="es-E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Checklist, glosario y referencias</a:t>
            </a:r>
            <a:endParaRPr lang="es-E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/ 60</a:t>
            </a:r>
            <a:endParaRPr lang="es-ES" sz="90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y lecturas recomendadas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oficial de las API de los principales proveedores de LLM (prompting, parámetros, function calling).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Publicaciones académicas originales sobre la arquitectura Transformer y las técnicas de los capítulos 5 y 6.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de buenas prácticas de seguridad para aplicaciones basadas en LLM.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 los frameworks de orquestación del capítulo 10.</a:t>
            </a:r>
            <a:endParaRPr lang="es-E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2E5C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31520" y="580644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15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 </a:t>
            </a:r>
            <a:r>
              <a:rPr lang="es-ES" altLang="es-ES" sz="11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campo evoluciona con rapidez: contrasta siempre las recomendaciones específicas con la documentación vigente del modelo utilizado.</a:t>
            </a:r>
            <a:endParaRPr lang="es-E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Checklist, glosario y referencias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33A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233A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por su atención</a:t>
            </a:r>
            <a:endParaRPr lang="es-ES" sz="3400" dirty="0"/>
          </a:p>
        </p:txBody>
      </p:sp>
      <p:sp>
        <p:nvSpPr>
          <p:cNvPr id="5" name="Shape 3"/>
          <p:cNvSpPr/>
          <p:nvPr/>
        </p:nvSpPr>
        <p:spPr>
          <a:xfrm>
            <a:off x="5550408" y="3794760"/>
            <a:ext cx="109728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500" b="1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Puerto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37083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250" dirty="0">
                <a:solidFill>
                  <a:srgbClr val="3C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r.puerto@umh.es</a:t>
            </a:r>
            <a:endParaRPr lang="es-ES" sz="12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62</Slides>
  <Notes>62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62</vt:i4>
      </vt:variant>
    </vt:vector>
  </HeadingPairs>
  <TitlesOfParts>
    <vt:vector size="63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Miguel Hernández de Elche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— Guía técnica</dc:title>
  <dc:subject>Prompt Engineering</dc:subject>
  <dc:creator>Puerto Manchon, Rafael</dc:creator>
  <cp:lastModifiedBy>Puerto Manchon, Rafael</cp:lastModifiedBy>
  <cp:revision>2</cp:revision>
  <dcterms:created xsi:type="dcterms:W3CDTF">2026-09-19T05:06:16Z</dcterms:created>
  <dcterms:modified xsi:type="dcterms:W3CDTF">2026-09-19T05:07:50Z</dcterms:modified>
  <dc:language>es-ES</dc:language>
</cp:coreProperties>
</file>